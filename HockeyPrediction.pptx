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85" r:id="rId2"/>
    <p:sldId id="2561" r:id="rId3"/>
    <p:sldId id="2580" r:id="rId4"/>
    <p:sldId id="2589" r:id="rId5"/>
    <p:sldId id="2591" r:id="rId6"/>
    <p:sldId id="2592" r:id="rId7"/>
    <p:sldId id="2590" r:id="rId8"/>
    <p:sldId id="2593" r:id="rId9"/>
    <p:sldId id="2595" r:id="rId10"/>
    <p:sldId id="2596" r:id="rId11"/>
    <p:sldId id="2588" r:id="rId1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erarbeitung von GTFS-Daten mit Graphenstrukturen: Effiziente Modellierung von öffentlichen Verkehrssystemen" id="{F32D6434-20A4-462B-BC4F-CEC8DD1AB922}">
          <p14:sldIdLst>
            <p14:sldId id="2585"/>
            <p14:sldId id="2561"/>
            <p14:sldId id="2580"/>
            <p14:sldId id="2589"/>
            <p14:sldId id="2591"/>
            <p14:sldId id="2592"/>
            <p14:sldId id="2590"/>
            <p14:sldId id="2593"/>
            <p14:sldId id="2595"/>
            <p14:sldId id="2596"/>
            <p14:sldId id="2588"/>
          </p14:sldIdLst>
        </p14:section>
        <p14:section name="Grundlagen von GTFS und öffentlichen Verkehrsdaten" id="{80C4DBF6-EF30-429C-B1BA-BC467254ADBE}">
          <p14:sldIdLst/>
        </p14:section>
        <p14:section name="Graphenstrukturen zur Modellierung von Verkehrsnetzen" id="{23032228-64FB-4CB2-86D9-3BFE71C97655}">
          <p14:sldIdLst/>
        </p14:section>
        <p14:section name="Techniken zur Verarbeitung von GTFS-Daten mit Graphen" id="{0BD933AD-046E-479F-89A4-3C9E92E24F9B}">
          <p14:sldIdLst/>
        </p14:section>
        <p14:section name="Anwendungsbeispiele und Herausforderungen" id="{24571F06-FC7F-4734-BE71-DEBDDFD266DA}">
          <p14:sldIdLst/>
        </p14:section>
        <p14:section name="Fazit: Effiziente Modellierung öffentlicher Verkehrssysteme durch GTFS und Graphen" id="{EBA21AA7-8194-4FD1-BB47-51FEB71F2FC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8D1C8-029B-4E10-9E4D-E44F3CE06BE6}" type="datetimeFigureOut">
              <a:rPr lang="en-CH" smtClean="0"/>
              <a:t>13/04/2026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82120-0F69-456F-95B8-2441234C20A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84945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Bildquelle: KI-generiert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38F5B-CEC4-4B57-AEF8-57442729C3BD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43468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E6D99-0BD7-80C3-186F-1A71926A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247C2-D105-A785-7C3B-624F16437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EED33-9FD8-329D-3E03-7F6BBF158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Bildquelle: KI-generiert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7AC38-B340-425D-E12B-E4BEBD3A5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38F5B-CEC4-4B57-AEF8-57442729C3BD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20240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9EFD-4770-64A5-B56E-F54491AB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D5A6E-4BDE-210F-AC2F-C600AA5BA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2677B-5786-F05F-76B6-1224F51D2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/>
              <a:t>Bildquelle: KI-generiert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CFEDD-FBD0-8366-B2DC-8456631E6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38F5B-CEC4-4B57-AEF8-57442729C3BD}" type="slidenum">
              <a:rPr lang="en-CH" smtClean="0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1312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5172773"/>
            <a:ext cx="9906001" cy="77082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4600446"/>
            <a:ext cx="9906001" cy="398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1" y="685800"/>
            <a:ext cx="9906000" cy="3716559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en-US" sz="1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/>
            </a:lvl1pPr>
          </a:lstStyle>
          <a:p>
            <a:fld id="{2953A48D-8978-4B7F-8BA5-7DDC44F9988C}" type="datetime1">
              <a:rPr lang="en-US" smtClean="0"/>
              <a:t>4/13/2026</a:t>
            </a:fld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10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008A96-F52F-AB95-8185-940BB21AA15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707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905008"/>
            <a:ext cx="9906001" cy="4038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767-B18A-4D25-AB71-95C362FFA6C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99ED41-DFA2-8D2F-7F31-B856DB6B81A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8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2327554"/>
            <a:ext cx="3914086" cy="3656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817" y="685799"/>
            <a:ext cx="3174160" cy="14588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9104" y="685800"/>
            <a:ext cx="525808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2400" y="6400800"/>
            <a:ext cx="5943600" cy="4536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58400" y="6400800"/>
            <a:ext cx="990600" cy="453602"/>
          </a:xfrm>
        </p:spPr>
        <p:txBody>
          <a:bodyPr/>
          <a:lstStyle/>
          <a:p>
            <a:fld id="{8529DE94-2476-477B-981E-08C53D89AC9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14B7BE-0A4F-0031-AC74-6519ACD526D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433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8017" y="2015442"/>
            <a:ext cx="4240984" cy="39602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8016" y="685800"/>
            <a:ext cx="3755116" cy="111467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1" y="685800"/>
            <a:ext cx="4952999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51F7A3-E7CB-4889-B172-A123C630DC5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8BDBFD-5D03-F89B-C880-B0D233D5D48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71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2990" y="2827402"/>
            <a:ext cx="3736010" cy="284556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2988" y="1521399"/>
            <a:ext cx="3729915" cy="112312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0" y="685800"/>
            <a:ext cx="5457968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8177C5-BD9A-4D23-83AF-F5B841ADF3F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6E54C3-5CBC-D17E-9D7C-4FF681AFB45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521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97452"/>
            <a:ext cx="9906000" cy="38742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93821"/>
            <a:ext cx="7794754" cy="12006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93D0-2A08-42DB-964D-2E1108D4CB7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0F3FF5-645F-9896-EB7A-64D903F7754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096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903564"/>
            <a:ext cx="9140954" cy="2836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923173"/>
            <a:ext cx="738835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57C23FB3-0824-43FF-8EA1-707169FC13F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985B18-7603-5E0E-67B4-DFB03DB2AA5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98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94490"/>
            <a:ext cx="8229600" cy="2379013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2" y="3962400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2000" b="1" i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D26C4EF4-1425-499B-9B0A-3303E07CFD1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01BC5C-C61F-D922-112D-C75F3114252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78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FD4B53-E1EA-4DC9-BEB9-493B5BDE930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872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D7CA4D-0419-44B1-A572-E2F0F89C540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335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685801"/>
            <a:ext cx="7896860" cy="525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86A8F3-65F3-4EB9-869C-76CEE4BDD77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11AFC6-EF52-5259-7C78-95BA7A9EDD6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272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4343400" cy="52578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685801"/>
            <a:ext cx="4953000" cy="5257800"/>
          </a:xfrm>
        </p:spPr>
        <p:txBody>
          <a:bodyPr anchor="ctr">
            <a:normAutofit/>
          </a:bodyPr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 sz="1800"/>
            </a:lvl1pPr>
            <a:lvl2pPr marL="685800" indent="-457200">
              <a:buClr>
                <a:schemeClr val="accent1"/>
              </a:buClr>
              <a:buFont typeface="+mj-lt"/>
              <a:buAutoNum type="arabicPeriod"/>
              <a:defRPr sz="1800"/>
            </a:lvl2pPr>
            <a:lvl3pPr marL="800100" indent="-342900">
              <a:buClr>
                <a:schemeClr val="accent1"/>
              </a:buClr>
              <a:buFont typeface="+mj-lt"/>
              <a:buAutoNum type="arabicPeriod"/>
              <a:defRPr sz="1800"/>
            </a:lvl3pPr>
            <a:lvl4pPr marL="1028700" indent="-342900">
              <a:buClr>
                <a:schemeClr val="accent1"/>
              </a:buClr>
              <a:buFont typeface="+mj-lt"/>
              <a:buAutoNum type="arabicPeriod"/>
              <a:defRPr sz="1800"/>
            </a:lvl4pPr>
            <a:lvl5pPr marL="1257300" indent="-342900">
              <a:buClr>
                <a:schemeClr val="accent1"/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B41A39F-C131-47B8-AEC1-526A80C18BB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EAC3E4-34A4-BAF1-4CEC-F3578B7F260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2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492" y="685800"/>
            <a:ext cx="5916508" cy="17053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43000" y="685800"/>
            <a:ext cx="327747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32493" y="2574043"/>
            <a:ext cx="5916507" cy="3369557"/>
          </a:xfrm>
        </p:spPr>
        <p:txBody>
          <a:bodyPr>
            <a:normAutofit/>
          </a:bodyPr>
          <a:lstStyle>
            <a:lvl1pPr marL="457200" indent="-457200">
              <a:buClr>
                <a:schemeClr val="accent1"/>
              </a:buClr>
              <a:buFont typeface="+mj-lt"/>
              <a:buAutoNum type="arabicPeriod"/>
              <a:defRPr sz="1800"/>
            </a:lvl1pPr>
            <a:lvl2pPr marL="571500" indent="-342900">
              <a:buClr>
                <a:schemeClr val="accent1"/>
              </a:buClr>
              <a:buFont typeface="+mj-lt"/>
              <a:buAutoNum type="arabicPeriod"/>
              <a:defRPr sz="1800"/>
            </a:lvl2pPr>
            <a:lvl3pPr marL="800100" indent="-342900">
              <a:buClr>
                <a:schemeClr val="accent1"/>
              </a:buClr>
              <a:buFont typeface="+mj-lt"/>
              <a:buAutoNum type="arabicPeriod"/>
              <a:defRPr sz="1800"/>
            </a:lvl3pPr>
            <a:lvl4pPr marL="1028700" indent="-342900">
              <a:buClr>
                <a:schemeClr val="accent1"/>
              </a:buClr>
              <a:buFont typeface="+mj-lt"/>
              <a:buAutoNum type="arabicPeriod"/>
              <a:defRPr sz="1800"/>
            </a:lvl4pPr>
            <a:lvl5pPr>
              <a:buClr>
                <a:schemeClr val="accent1"/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A877CDC7-E2DA-405F-BDB4-4ED43CAA16E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522FD4-D873-5880-85CA-81907402906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944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95FE81-352A-04EE-D805-C0A4E238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38397"/>
            <a:ext cx="6623435" cy="115642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5ECE14C-6B0B-4298-B34D-766A34529CD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8EE849E-3DB2-6D09-829E-63D97DAF47A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53380E56-1E9F-BBE4-3737-14FD20DDE3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3777702"/>
            <a:ext cx="4659735" cy="1632498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  <a:lvl2pPr>
              <a:spcBef>
                <a:spcPts val="0"/>
              </a:spcBef>
              <a:buNone/>
              <a:defRPr/>
            </a:lvl2pPr>
            <a:lvl3pPr>
              <a:spcBef>
                <a:spcPts val="0"/>
              </a:spcBef>
              <a:buNone/>
              <a:defRPr/>
            </a:lvl3pPr>
            <a:lvl4pPr>
              <a:spcBef>
                <a:spcPts val="0"/>
              </a:spcBef>
              <a:buNone/>
              <a:defRPr/>
            </a:lvl4pPr>
            <a:lvl5pPr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197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3506558" cy="345689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2777" y="685800"/>
            <a:ext cx="4956175" cy="3461212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D76CF820-C7DB-421D-8FD6-C430A9B1C2A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077C1-74FA-7247-9C7C-6A14D1FE584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416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71" y="2102780"/>
            <a:ext cx="3923455" cy="384081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97941" y="685800"/>
            <a:ext cx="5251059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0E63EA5-332D-4604-BD2D-34B00B234ED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0DACAA-0808-2D60-12F2-52C968353E1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256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02859"/>
            <a:ext cx="3048000" cy="521933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28417" y="724270"/>
            <a:ext cx="6120583" cy="521933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5145CA3-1D95-48B1-8239-73BFDAEAE6A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3579D9-BC9D-2B0D-42FA-B8F3791ECB8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305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07549"/>
            <a:ext cx="2590800" cy="523605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817" y="708184"/>
            <a:ext cx="6603184" cy="523541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1B80F9BF-B0F8-4A9E-9210-E35AD48EB15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2C2954-C801-2F12-6B41-2D0F2CDE902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353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931" y="719137"/>
            <a:ext cx="2717068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647691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6957" y="2793033"/>
            <a:ext cx="2717068" cy="28330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8450" y="6400800"/>
            <a:ext cx="99557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30F05D-1D3B-4C2E-9FFA-DE29ED95627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4025" y="6400800"/>
            <a:ext cx="995575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1AC5C24-4394-5215-8F84-119942C28BC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266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1"/>
            <a:ext cx="2717067" cy="1892277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B3FABB3D-30D3-4F01-12AE-0D719370027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43000" y="2793033"/>
            <a:ext cx="2717068" cy="28330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DF247FF5-7041-6BAC-2B24-D38B5823FD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85" y="685800"/>
            <a:ext cx="647691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399" y="6400800"/>
            <a:ext cx="9906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B2FE6D2-B81D-4429-A41B-DCED2913EA1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2B7EA7-2EEF-FFC6-041D-2A5C4363724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4681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62" y="4495800"/>
            <a:ext cx="3209368" cy="14478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799"/>
            <a:ext cx="9901238" cy="359504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87" y="4495800"/>
            <a:ext cx="6476914" cy="14305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lang="en-US" dirty="0"/>
            </a:lvl1pPr>
            <a:lvl2pPr marL="228600" indent="0">
              <a:spcBef>
                <a:spcPts val="0"/>
              </a:spcBef>
              <a:buNone/>
              <a:defRPr lang="en-US" dirty="0"/>
            </a:lvl2pPr>
            <a:lvl3pPr marL="457200" indent="0">
              <a:spcBef>
                <a:spcPts val="0"/>
              </a:spcBef>
              <a:buNone/>
              <a:defRPr lang="en-US" dirty="0"/>
            </a:lvl3pPr>
            <a:lvl4pPr marL="685800" indent="0">
              <a:spcBef>
                <a:spcPts val="0"/>
              </a:spcBef>
              <a:buNone/>
              <a:defRPr lang="en-US" dirty="0"/>
            </a:lvl4pPr>
            <a:lvl5pPr marL="914400" indent="0"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A986E4C-26E7-40BC-8DDD-DE3A2F7C8B9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A47364-66B2-3B4D-6600-100245734C9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157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7489" y="685799"/>
            <a:ext cx="3620525" cy="92754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556260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17617" y="1828299"/>
            <a:ext cx="362052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36428" y="6400800"/>
            <a:ext cx="1001586" cy="457200"/>
          </a:xfrm>
        </p:spPr>
        <p:txBody>
          <a:bodyPr/>
          <a:lstStyle/>
          <a:p>
            <a:fld id="{F14D5DAB-1E00-43FC-9445-DAAD2ACAC73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38014" y="6400800"/>
            <a:ext cx="1001586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7BBF56-9F54-91F7-8B07-3836137799C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1661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685800"/>
            <a:ext cx="3620524" cy="92754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A46DECC9-7986-BB68-7725-C840C27A8E9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43000" y="1828299"/>
            <a:ext cx="362052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7AACE2C-717B-D303-9874-EEBCB1CCD9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685800"/>
            <a:ext cx="5562600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8" cy="457200"/>
          </a:xfrm>
        </p:spPr>
        <p:txBody>
          <a:bodyPr/>
          <a:lstStyle/>
          <a:p>
            <a:fld id="{4989F924-B50F-4860-B10F-D52036B96E3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8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B0D76A-CF8F-ABF7-FD42-BC815738E31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0117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1" y="685800"/>
            <a:ext cx="4546423" cy="9144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73F0A7D-AD36-9BC0-CF3C-1985F17450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3336" y="685800"/>
            <a:ext cx="463722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1" y="1828300"/>
            <a:ext cx="4556759" cy="411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4316"/>
            <a:ext cx="5943600" cy="4536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4316"/>
            <a:ext cx="990600" cy="45368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D02379D-477C-47F0-9322-3E7981CF222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4316"/>
            <a:ext cx="990600" cy="45368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0D0403-0661-B304-FC30-17B8CEC938C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600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40" y="685800"/>
            <a:ext cx="4513154" cy="9144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08C86B72-855F-890D-47EC-5A46EA634C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4740" y="1828300"/>
            <a:ext cx="4513154" cy="411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CBB37A90-5561-8836-19D2-B4DFB635D8F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9910" y="685800"/>
            <a:ext cx="4637225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00800"/>
            <a:ext cx="5943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36535" y="6400800"/>
            <a:ext cx="990600" cy="457200"/>
          </a:xfrm>
        </p:spPr>
        <p:txBody>
          <a:bodyPr/>
          <a:lstStyle/>
          <a:p>
            <a:fld id="{30FBF84D-747E-4A2D-B74C-0D1ADB9D978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804DAD-5BC0-9FC5-EC18-CDBE0EE36A9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4600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662043"/>
            <a:ext cx="2667001" cy="2281557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685800"/>
            <a:ext cx="9906001" cy="275753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4956" y="3662043"/>
            <a:ext cx="7024044" cy="22815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412F17FE-50B5-4F97-A5FE-D47BC058140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B40F4D-4FD2-324C-CFF2-ADA23A35CFB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2029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07477"/>
            <a:ext cx="2743106" cy="233045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01063" y="707476"/>
            <a:ext cx="6947938" cy="26858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3607498"/>
            <a:ext cx="9906001" cy="233045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600" cy="457200"/>
          </a:xfrm>
        </p:spPr>
        <p:txBody>
          <a:bodyPr/>
          <a:lstStyle/>
          <a:p>
            <a:fld id="{398629FA-33AC-4B91-9F50-6A34C73DB4A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6F4162-8B6A-031F-A186-63503EB5CF2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226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685801"/>
            <a:ext cx="2667001" cy="52578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24956" y="685800"/>
            <a:ext cx="7024044" cy="275753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4956" y="3662043"/>
            <a:ext cx="7024044" cy="22815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4C54EB15-C6E9-4FB2-A00E-83F3272DC20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2BAF7E-DB4B-FC77-1D4B-2907E790CFE1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9353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4553" y="702859"/>
            <a:ext cx="5744447" cy="9098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702859"/>
            <a:ext cx="3417453" cy="524074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5739" y="1828299"/>
            <a:ext cx="5737784" cy="4115301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2921" y="6400800"/>
            <a:ext cx="990601" cy="457200"/>
          </a:xfrm>
        </p:spPr>
        <p:txBody>
          <a:bodyPr/>
          <a:lstStyle/>
          <a:p>
            <a:fld id="{F35C560A-6694-4C54-932B-EBD007D80457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34F062-E526-E361-D4BD-72E769199F9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4695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02859"/>
            <a:ext cx="5744448" cy="89486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1843924"/>
            <a:ext cx="5744447" cy="4099676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D5B6C620-74FA-0279-5BC5-97091F2D26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7" y="702859"/>
            <a:ext cx="3417453" cy="5240741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9" y="6400800"/>
            <a:ext cx="990600" cy="457200"/>
          </a:xfrm>
        </p:spPr>
        <p:txBody>
          <a:bodyPr/>
          <a:lstStyle/>
          <a:p>
            <a:fld id="{101DF975-D0C4-475F-9F7C-B84D5C6D229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D60DA1-4793-4BB1-35F1-0A144685020B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7139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85799"/>
            <a:ext cx="9905999" cy="9484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936" y="1849212"/>
            <a:ext cx="4569056" cy="4094387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52008" y="1849212"/>
            <a:ext cx="4596992" cy="4094388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1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D9AFD03-FE9C-40DF-B862-03968B25C24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77AF9D-3C1B-C06E-8ED0-0E93CB299E0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012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9484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1849213"/>
            <a:ext cx="3886200" cy="4094387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1216" y="1849213"/>
            <a:ext cx="5307785" cy="4094387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FD384AD-C61A-48D6-93CC-8F2E0CDBE1F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599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68E299-4F76-11A9-0401-93911962B31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029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94183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1855838"/>
            <a:ext cx="4678055" cy="4087762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69855" y="1855839"/>
            <a:ext cx="4479145" cy="4087762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flipH="1"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614BD192-03A5-4A45-AA3A-3048777F9DA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5B70AA-3B93-7622-1DFB-94A2304AD14A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9952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685801"/>
            <a:ext cx="6416832" cy="914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0" y="685800"/>
            <a:ext cx="2777152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828299"/>
            <a:ext cx="6416832" cy="4115300"/>
          </a:xfrm>
        </p:spPr>
        <p:txBody>
          <a:bodyPr/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6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688BF943-8E28-4DFB-B0DE-F00AF9279F8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39A83E-B0F1-03F6-74AC-D67E31FB986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5761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94998"/>
            <a:ext cx="6407304" cy="914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2999" y="1828299"/>
            <a:ext cx="6407305" cy="41153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A0F08A51-DDF0-F904-C832-37321BA8D0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71848" y="685800"/>
            <a:ext cx="2777152" cy="5257800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14FE1444-BD57-4488-BC66-780B65504E47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00A44A-2759-A2C2-08DC-0AAFC6B55096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5924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20467"/>
            <a:ext cx="3517146" cy="162848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1" y="2563904"/>
            <a:ext cx="3517146" cy="337969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72162" y="685801"/>
            <a:ext cx="5676838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2C7D6AC0-AFBC-4BF8-914C-3A003B9A62F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C98E67-C3DE-1B21-ADC4-8C5E2F6367F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337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129" y="709098"/>
            <a:ext cx="2491239" cy="16398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72128" y="2563905"/>
            <a:ext cx="2491239" cy="3379695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84" y="685800"/>
            <a:ext cx="6673616" cy="52578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599" cy="457200"/>
          </a:xfrm>
        </p:spPr>
        <p:txBody>
          <a:bodyPr/>
          <a:lstStyle/>
          <a:p>
            <a:fld id="{2DA2328B-B1E6-45A4-86CF-8A83B4DA9E9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0BF570-92F5-4B04-EE32-8093EAC2D17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241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243865"/>
            <a:ext cx="9906000" cy="709673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6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1"/>
            <a:ext cx="9906000" cy="4329860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38E9D8-4FC1-4DAE-99E4-835FCD28839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A7AB40-CE07-6773-F477-107BB694C7B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434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3CD651BA-50FB-2DF6-3F6E-69C4FCD7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609809"/>
            <a:ext cx="4953001" cy="1343730"/>
          </a:xfrm>
        </p:spPr>
        <p:txBody>
          <a:bodyPr anchor="b"/>
          <a:lstStyle>
            <a:lvl1pPr>
              <a:lnSpc>
                <a:spcPct val="110000"/>
              </a:lnSpc>
              <a:defRPr sz="2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CA4E528-A76C-88B7-F866-78D030A514D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685801"/>
            <a:ext cx="9906000" cy="3276600"/>
          </a:xfrm>
        </p:spPr>
        <p:txBody>
          <a:bodyPr anchor="b"/>
          <a:lstStyle>
            <a:lvl1pPr>
              <a:lnSpc>
                <a:spcPct val="90000"/>
              </a:lnSpc>
              <a:buNone/>
              <a:defRPr sz="27000">
                <a:solidFill>
                  <a:schemeClr val="tx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BAEB1E-5971-4FE0-8556-E58B94C51D4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EA5BF1-23C2-0F30-7510-43650AEC4DE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916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C3DADE7F-E67E-CAEA-8072-B9514E6E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399" y="685800"/>
            <a:ext cx="2895601" cy="5267739"/>
          </a:xfrm>
        </p:spPr>
        <p:txBody>
          <a:bodyPr anchor="ctr"/>
          <a:lstStyle>
            <a:lvl1pPr>
              <a:lnSpc>
                <a:spcPct val="110000"/>
              </a:lnSpc>
              <a:defRPr sz="26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64D4B29D-DD33-F8A0-6077-D56DBC08D2D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685800"/>
            <a:ext cx="6781800" cy="4191001"/>
          </a:xfrm>
        </p:spPr>
        <p:txBody>
          <a:bodyPr anchor="b"/>
          <a:lstStyle>
            <a:lvl1pPr>
              <a:lnSpc>
                <a:spcPct val="90000"/>
              </a:lnSpc>
              <a:buNone/>
              <a:defRPr sz="20000">
                <a:solidFill>
                  <a:schemeClr val="accent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39DFF5D4-4547-4361-B250-BFE60A41E1A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02FC57-F63B-DF9D-9ACC-AC4696C0376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1578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1D15B53-A6D4-5307-3354-15A2A777AA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43000" y="715425"/>
            <a:ext cx="9906000" cy="4217987"/>
          </a:xfrm>
        </p:spPr>
        <p:txBody>
          <a:bodyPr/>
          <a:lstStyle>
            <a:lvl1pPr>
              <a:lnSpc>
                <a:spcPct val="90000"/>
              </a:lnSpc>
              <a:buNone/>
              <a:defRPr sz="270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99B2AA-EA1F-4808-8C25-C8FD26324E2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6B5B7-21A5-3BED-394A-5383E64E7DF5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53B1AF28-7C69-5D76-E7F7-FF9768CC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166360"/>
            <a:ext cx="8759952" cy="786384"/>
          </a:xfrm>
        </p:spPr>
        <p:txBody>
          <a:bodyPr/>
          <a:lstStyle>
            <a:lvl1pPr>
              <a:lnSpc>
                <a:spcPct val="110000"/>
              </a:lnSpc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5851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5257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8C9FE2-6DE5-4BD7-B30C-85A8ECDF091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E59E0B-DA31-573A-9F4C-606FE4AAB02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75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10439400" cy="5257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0D39FB3-A85A-4123-936A-B01B3428330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01FFB5-9AC9-5608-D38C-31B179F100F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184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1"/>
            <a:ext cx="9906000" cy="525779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1pPr>
            <a:lvl2pPr marL="2286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2pPr>
            <a:lvl3pPr marL="4572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3pPr>
            <a:lvl4pPr marL="6858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4pPr>
            <a:lvl5pPr marL="914400" indent="0">
              <a:lnSpc>
                <a:spcPct val="90000"/>
              </a:lnSpc>
              <a:buNone/>
              <a:defRPr sz="5400" b="0">
                <a:latin typeface="+mj-lt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94359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400800"/>
            <a:ext cx="990600" cy="457200"/>
          </a:xfrm>
        </p:spPr>
        <p:txBody>
          <a:bodyPr/>
          <a:lstStyle/>
          <a:p>
            <a:fld id="{A70944E6-539A-4BC8-B250-092F2CE95E9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990600" cy="4572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6CE4C6-A657-5805-17C1-DFBE412C51BD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5384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5257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5400" b="1" dirty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B6F89-4209-4DBA-AE92-A89C4CA08C2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45B696-5A62-5895-72D9-DC0A3B3E2F8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295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5029200"/>
            <a:ext cx="9906000" cy="91440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1" i="0" spc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411480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9C85BD29-F703-441C-BA70-A68EA51BEFA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33729E-38D5-A1E3-A590-6B649D520DE4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2887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4955722"/>
            <a:ext cx="9906000" cy="987878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b="1" i="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39502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5B9CFA-6593-4507-A356-FB73387E981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B597FC-DDBE-CAE6-D19E-43EBC682234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967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5029200"/>
            <a:ext cx="6341532" cy="914399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000" b="1" i="0" spc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3000" y="685800"/>
            <a:ext cx="9906000" cy="40739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>
                <a:latin typeface="+mj-lt"/>
                <a:cs typeface="Mongolian Baiti" panose="03000500000000000000" pitchFamily="66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6DF2A675-1020-4672-8497-CDB1190FE40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0B72BA-2488-6234-EBE9-5F35F28FB990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0523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1828800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2729555"/>
            <a:ext cx="9906000" cy="321404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2286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2pPr>
            <a:lvl3pPr marL="4572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3pPr>
            <a:lvl4pPr marL="6858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4pPr>
            <a:lvl5pPr marL="914400" indent="0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21EF61-A901-4AB4-9C45-C45E4D36F49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7917D3-DF16-9257-206A-EC4725B68DB8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574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78617"/>
            <a:ext cx="8430767" cy="1842020"/>
          </a:xfrm>
        </p:spPr>
        <p:txBody>
          <a:bodyPr anchor="b">
            <a:no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128" y="4335592"/>
            <a:ext cx="8430639" cy="160800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22860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45720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3pPr>
            <a:lvl4pPr marL="68580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4pPr>
            <a:lvl5pPr marL="91440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9C0E38-0B6C-4F02-AE7F-390E700470C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72AAFA-E5BE-EBA1-7C6C-D6C7CA13C4A9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535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1036"/>
            <a:ext cx="9906000" cy="999861"/>
          </a:xfrm>
        </p:spPr>
        <p:txBody>
          <a:bodyPr anchor="t"/>
          <a:lstStyle>
            <a:lvl1pPr>
              <a:defRPr lang="en-US" sz="4100" kern="1200" dirty="0">
                <a:solidFill>
                  <a:srgbClr val="D27B07"/>
                </a:solidFill>
                <a:effectLst/>
                <a:latin typeface="Mongolian Baiti" panose="03000500000000000000" pitchFamily="66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2999" y="1825625"/>
            <a:ext cx="4544695" cy="411797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5" y="1825625"/>
            <a:ext cx="4544695" cy="411797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3455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8579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1685735"/>
            <a:ext cx="45415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i="0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2387600"/>
            <a:ext cx="4541838" cy="35560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8116" y="1685735"/>
            <a:ext cx="45415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i="0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7162" y="2387600"/>
            <a:ext cx="4541838" cy="35560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522869C-8080-4F99-8FAC-1725E6C242D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E3AABC-393D-6A10-85E1-3DA5FCF6F28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5643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5800"/>
            <a:ext cx="9906000" cy="11240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DF9FB6F-4F0B-43F9-AF69-3B0CAC3B888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7143C1-3BF7-2821-826F-7956E68E4ED2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5811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00E5B50F-7E5E-430D-954F-DEC2717D2CC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2C6766-0277-BD60-47A7-70F9C799649E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0509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740" y="685801"/>
            <a:ext cx="3595634" cy="180858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6740" y="2743200"/>
            <a:ext cx="3595634" cy="32004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7" y="685801"/>
            <a:ext cx="5943599" cy="52577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F5570C49-D89B-4A85-81F2-2955DCD49ED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52DA44-7B78-2397-2B78-AD0FE8DE32E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1353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692" y="685801"/>
            <a:ext cx="3595634" cy="182316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6692" y="2743200"/>
            <a:ext cx="3595634" cy="320040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34000" y="685802"/>
            <a:ext cx="5701308" cy="5257798"/>
          </a:xfrm>
          <a:prstGeom prst="roundRect">
            <a:avLst/>
          </a:pr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E6CFD80B-F9FB-4989-A4EB-DBB19E6671F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420CDB-B7DC-0296-6DF4-02A4E776627C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22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98501"/>
            <a:ext cx="9906000" cy="1018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1902460"/>
            <a:ext cx="9906001" cy="4041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00800"/>
            <a:ext cx="2155071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1" i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fld id="{8FD589F1-8A4C-4250-9180-4AE033388C2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" y="6400800"/>
            <a:ext cx="594359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 b="1" i="0">
                <a:solidFill>
                  <a:schemeClr val="tx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000" y="6400800"/>
            <a:ext cx="990599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1" i="0">
                <a:solidFill>
                  <a:schemeClr val="accent1"/>
                </a:solidFill>
                <a:latin typeface="+mj-lt"/>
                <a:cs typeface="Mongolian Baiti" panose="03000500000000000000" pitchFamily="66" charset="0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90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 spc="0" baseline="0">
          <a:solidFill>
            <a:schemeClr val="tx1"/>
          </a:solidFill>
          <a:latin typeface="+mj-lt"/>
          <a:ea typeface="+mj-ea"/>
          <a:cs typeface="Mongolian Baiti" panose="03000500000000000000" pitchFamily="66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584" userDrawn="1">
          <p15:clr>
            <a:srgbClr val="F26B43"/>
          </p15:clr>
        </p15:guide>
        <p15:guide id="26" pos="96" userDrawn="1">
          <p15:clr>
            <a:srgbClr val="F26B43"/>
          </p15:clr>
        </p15:guide>
        <p15:guide id="27" pos="720" userDrawn="1">
          <p15:clr>
            <a:srgbClr val="F26B43"/>
          </p15:clr>
        </p15:guide>
        <p15:guide id="28" pos="6960" userDrawn="1">
          <p15:clr>
            <a:srgbClr val="F26B43"/>
          </p15:clr>
        </p15:guide>
        <p15:guide id="29" orient="horz" pos="4032" userDrawn="1">
          <p15:clr>
            <a:srgbClr val="F26B43"/>
          </p15:clr>
        </p15:guide>
        <p15:guide id="30" orient="horz" pos="432" userDrawn="1">
          <p15:clr>
            <a:srgbClr val="F26B43"/>
          </p15:clr>
        </p15:guide>
        <p15:guide id="31" orient="horz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gnauxl/hockey_prediction/blob/main/src/hockey-prediction.ipynb" TargetMode="External"/><Relationship Id="rId2" Type="http://schemas.openxmlformats.org/officeDocument/2006/relationships/hyperlink" Target="https://github.com/gagnauxl/hockey_prediction" TargetMode="Externa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_background_rect">
            <a:extLst>
              <a:ext uri="{FF2B5EF4-FFF2-40B4-BE49-F238E27FC236}">
                <a16:creationId xmlns:a16="http://schemas.microsoft.com/office/drawing/2014/main" id="{A59C51BA-2986-4DB8-94B3-32AD3712E2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DDA151">
                <a:shade val="15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D018EE-60E0-FC44-21AF-75360C30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noProof="0" dirty="0"/>
              <a:t>Leistungsnachweis in </a:t>
            </a:r>
            <a:r>
              <a:rPr lang="de-CH" noProof="0" dirty="0" err="1"/>
              <a:t>Machine</a:t>
            </a:r>
            <a:r>
              <a:rPr lang="de-CH" noProof="0" dirty="0"/>
              <a:t> Learning</a:t>
            </a:r>
            <a:br>
              <a:rPr lang="de-CH" noProof="0" dirty="0"/>
            </a:br>
            <a:endParaRPr lang="de-CH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01DA9-5DF1-DF54-8E3E-637502D1CF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2999" y="1825625"/>
            <a:ext cx="5361306" cy="41179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sz="1800" noProof="0" dirty="0"/>
              <a:t>Im Rahmen des CAS </a:t>
            </a:r>
            <a:r>
              <a:rPr lang="de-CH" sz="1800" noProof="0" dirty="0" err="1"/>
              <a:t>Machine</a:t>
            </a:r>
            <a:r>
              <a:rPr lang="de-CH" sz="1800" noProof="0" dirty="0"/>
              <a:t> </a:t>
            </a:r>
            <a:r>
              <a:rPr lang="de-CH" sz="1800" noProof="0" dirty="0" err="1"/>
              <a:t>Intelligence</a:t>
            </a:r>
            <a:r>
              <a:rPr lang="de-CH" sz="1800" noProof="0" dirty="0"/>
              <a:t> (CAS MAIN 26.15) von:</a:t>
            </a:r>
            <a:br>
              <a:rPr lang="de-CH" sz="1800" noProof="0" dirty="0"/>
            </a:br>
            <a:endParaRPr lang="de-CH" sz="1800" dirty="0"/>
          </a:p>
          <a:p>
            <a:pPr marL="0" indent="0">
              <a:buNone/>
            </a:pPr>
            <a:r>
              <a:rPr lang="de-CH" sz="1800" dirty="0">
                <a:solidFill>
                  <a:srgbClr val="D27B07"/>
                </a:solidFill>
                <a:latin typeface="Mongolian Baiti" panose="03000500000000000000" pitchFamily="66" charset="0"/>
              </a:rPr>
              <a:t>Louis-Pierre Gagnaux</a:t>
            </a:r>
          </a:p>
          <a:p>
            <a:pPr marL="0" indent="0">
              <a:buNone/>
            </a:pPr>
            <a:endParaRPr lang="de-CH" sz="1800" noProof="0" dirty="0"/>
          </a:p>
          <a:p>
            <a:pPr marL="0" indent="0">
              <a:buNone/>
            </a:pPr>
            <a:r>
              <a:rPr lang="de-CH" sz="1800" noProof="0" dirty="0"/>
              <a:t>Referenzen</a:t>
            </a:r>
          </a:p>
          <a:p>
            <a:pPr marL="0" indent="0">
              <a:buNone/>
            </a:pPr>
            <a:r>
              <a:rPr lang="de-CH" sz="1800" noProof="0" dirty="0" err="1"/>
              <a:t>public</a:t>
            </a:r>
            <a:r>
              <a:rPr lang="de-CH" sz="1800" noProof="0" dirty="0"/>
              <a:t> </a:t>
            </a:r>
            <a:r>
              <a:rPr lang="de-CH" sz="1800" noProof="0" dirty="0" err="1"/>
              <a:t>git</a:t>
            </a:r>
            <a:r>
              <a:rPr lang="de-CH" sz="1800" noProof="0" dirty="0"/>
              <a:t> </a:t>
            </a:r>
            <a:r>
              <a:rPr lang="de-CH" sz="1800" noProof="0" dirty="0" err="1"/>
              <a:t>repo</a:t>
            </a:r>
            <a:r>
              <a:rPr lang="de-CH" sz="1800" noProof="0" dirty="0"/>
              <a:t>: </a:t>
            </a:r>
            <a:r>
              <a:rPr lang="de-CH" sz="1800" noProof="0" dirty="0">
                <a:hlinkClick r:id="rId2"/>
              </a:rPr>
              <a:t>https://github.com/gagnauxl/hockey_prediction</a:t>
            </a:r>
            <a:endParaRPr lang="de-CH" sz="1800" noProof="0" dirty="0"/>
          </a:p>
          <a:p>
            <a:pPr marL="0" indent="0">
              <a:buNone/>
            </a:pPr>
            <a:endParaRPr lang="de-CH" sz="1800" dirty="0"/>
          </a:p>
          <a:p>
            <a:pPr marL="0" indent="0">
              <a:buNone/>
            </a:pPr>
            <a:r>
              <a:rPr lang="de-CH" sz="1800"/>
              <a:t>Siehe auch </a:t>
            </a:r>
            <a:r>
              <a:rPr lang="de-CH" sz="1800">
                <a:hlinkClick r:id="rId3"/>
              </a:rPr>
              <a:t>https://github.com/gagnauxl/hockey_prediction/blob/main/src/hockey-prediction.ipynb</a:t>
            </a:r>
            <a:r>
              <a:rPr lang="de-CH" sz="1800"/>
              <a:t> </a:t>
            </a:r>
            <a:br>
              <a:rPr lang="de-CH" sz="1800"/>
            </a:br>
            <a:endParaRPr lang="de-CH" noProof="0" dirty="0"/>
          </a:p>
          <a:p>
            <a:pPr marL="0" indent="0">
              <a:buNone/>
            </a:pPr>
            <a:endParaRPr lang="de-CH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7D392-C136-AF79-0755-B41AFC5C1E0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sz="1800" noProof="0" dirty="0"/>
              <a:t>Inhaltsverzeichnis</a:t>
            </a:r>
          </a:p>
          <a:p>
            <a:pPr marL="0" indent="0">
              <a:buNone/>
            </a:pPr>
            <a:r>
              <a:rPr lang="de-CH" sz="1800" noProof="0" dirty="0"/>
              <a:t>Verschiedene Modelle für Voraussage von Eishockey-Spielen:</a:t>
            </a:r>
          </a:p>
          <a:p>
            <a:r>
              <a:rPr lang="de-CH" sz="1800" noProof="0" dirty="0"/>
              <a:t>Lineare Regression</a:t>
            </a:r>
          </a:p>
          <a:p>
            <a:r>
              <a:rPr lang="de-CH" sz="1800" noProof="0" dirty="0"/>
              <a:t>Rangliste</a:t>
            </a:r>
          </a:p>
          <a:p>
            <a:r>
              <a:rPr lang="de-CH" sz="1800" noProof="0" dirty="0"/>
              <a:t>KNN</a:t>
            </a:r>
          </a:p>
          <a:p>
            <a:r>
              <a:rPr lang="de-CH" sz="1800" noProof="0" dirty="0"/>
              <a:t>ELO</a:t>
            </a:r>
          </a:p>
          <a:p>
            <a:r>
              <a:rPr lang="de-CH" sz="1800" dirty="0" err="1"/>
              <a:t>Decision</a:t>
            </a:r>
            <a:r>
              <a:rPr lang="de-CH" sz="1800" dirty="0"/>
              <a:t> </a:t>
            </a:r>
            <a:r>
              <a:rPr lang="de-CH" sz="1800" dirty="0" err="1"/>
              <a:t>Tree</a:t>
            </a:r>
            <a:endParaRPr lang="de-CH" sz="1800" noProof="0" dirty="0"/>
          </a:p>
          <a:p>
            <a:r>
              <a:rPr lang="de-CH" sz="1800" noProof="0" dirty="0"/>
              <a:t>Verbesserung mit Goalie Statistik</a:t>
            </a:r>
          </a:p>
          <a:p>
            <a:endParaRPr lang="de-CH" sz="1800" noProof="0" dirty="0"/>
          </a:p>
          <a:p>
            <a:pPr marL="0" indent="0">
              <a:buNone/>
            </a:pPr>
            <a:r>
              <a:rPr lang="de-CH" sz="1800" noProof="0" dirty="0"/>
              <a:t>Referenzen:</a:t>
            </a:r>
          </a:p>
          <a:p>
            <a:r>
              <a:rPr lang="de-CH" noProof="0" dirty="0"/>
              <a:t>Daten Swiss National League: https://www.sihf.ch/de/game-center/national-league/#/standing/rank/asc/page/0/</a:t>
            </a:r>
            <a:endParaRPr lang="de-CH" sz="1800" noProof="0" dirty="0"/>
          </a:p>
          <a:p>
            <a:endParaRPr lang="de-CH" sz="1800" noProof="0" dirty="0"/>
          </a:p>
          <a:p>
            <a:pPr marL="0" indent="0">
              <a:buNone/>
            </a:pPr>
            <a:endParaRPr lang="de-CH" sz="180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53C80-2BFA-4AD8-4A44-8C16C6EC6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1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299181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448AB-4612-C7FA-1903-81DEC9457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2</a:t>
            </a:fld>
            <a:endParaRPr lang="de-CH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56CF71-593D-4F9B-9E4B-78072C53606B}"/>
              </a:ext>
            </a:extLst>
          </p:cNvPr>
          <p:cNvSpPr txBox="1"/>
          <p:nvPr/>
        </p:nvSpPr>
        <p:spPr>
          <a:xfrm>
            <a:off x="831274" y="508549"/>
            <a:ext cx="9449666" cy="78800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de-CH" sz="4800" noProof="0" dirty="0">
                <a:solidFill>
                  <a:srgbClr val="D27B07"/>
                </a:solidFill>
                <a:latin typeface="Mongolian Baiti" panose="03000500000000000000" pitchFamily="66" charset="0"/>
              </a:rPr>
              <a:t>Hockey </a:t>
            </a:r>
            <a:r>
              <a:rPr lang="de-CH" sz="4800" noProof="0" dirty="0" err="1">
                <a:solidFill>
                  <a:srgbClr val="D27B07"/>
                </a:solidFill>
                <a:latin typeface="Mongolian Baiti" panose="03000500000000000000" pitchFamily="66" charset="0"/>
              </a:rPr>
              <a:t>Prediction</a:t>
            </a:r>
            <a:endParaRPr lang="de-CH" sz="4800" noProof="0" dirty="0">
              <a:solidFill>
                <a:srgbClr val="D27B07"/>
              </a:solidFill>
              <a:latin typeface="Mongolian Baiti" panose="03000500000000000000" pitchFamily="66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98CA4AA-8EA1-362F-0414-636285ACBD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9125" y="2355561"/>
            <a:ext cx="10546772" cy="3099666"/>
          </a:xfrm>
        </p:spPr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     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Home_Id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Away_Id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                     Home                    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Away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Resultat OT/SO  Points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354       10       11                 EHC Kloten                  HC Lugano      2:1    OT       2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355        5        1                  ZSC Lions                   HC Davos      1:2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NaN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     0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356        6        4                     EV Zug  SC Rapperswil-Jona Lakers      2:3    OT       1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357        9        2                    SC Bern          Fribourg-Gottéron      3:4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NaN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     0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358        1        7                   HC Davos            EHC Biel-Bienne      5:2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NaN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     3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359        3       10         Genève-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Servette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HC                 EHC Kloten      7:0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NaN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     3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360       11        6                  HC Lugano                     EV Zug      4:1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NaN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     3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361       12        8                Lausanne HC                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HC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Ajoie      2:3    SO       1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362        4        0  SC Rapperswil-Jona Lakers            HC Ambri-Piotta      6:2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NaN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     3 </a:t>
            </a:r>
          </a:p>
          <a:p>
            <a:pPr>
              <a:lnSpc>
                <a:spcPts val="1425"/>
              </a:lnSpc>
              <a:buNone/>
            </a:pPr>
            <a:r>
              <a:rPr lang="de-CH" b="0" noProof="0" dirty="0">
                <a:effectLst/>
                <a:latin typeface="Consolas" panose="020B0609020204030204" pitchFamily="49" charset="0"/>
              </a:rPr>
              <a:t>363       13        5                 SCL Tigers                  ZSC Lions      0:2   </a:t>
            </a:r>
            <a:r>
              <a:rPr lang="de-CH" b="0" noProof="0" dirty="0" err="1">
                <a:effectLst/>
                <a:latin typeface="Consolas" panose="020B0609020204030204" pitchFamily="49" charset="0"/>
              </a:rPr>
              <a:t>NaN</a:t>
            </a:r>
            <a:r>
              <a:rPr lang="de-CH" b="0" noProof="0" dirty="0">
                <a:effectLst/>
                <a:latin typeface="Consolas" panose="020B0609020204030204" pitchFamily="49" charset="0"/>
              </a:rPr>
              <a:t>       0 </a:t>
            </a:r>
          </a:p>
          <a:p>
            <a:pPr>
              <a:lnSpc>
                <a:spcPts val="1425"/>
              </a:lnSpc>
              <a:buNone/>
            </a:pPr>
            <a:br>
              <a:rPr lang="de-CH" b="0" noProof="0" dirty="0">
                <a:effectLst/>
                <a:latin typeface="Consolas" panose="020B0609020204030204" pitchFamily="49" charset="0"/>
              </a:rPr>
            </a:br>
            <a:endParaRPr lang="de-CH" b="0" noProof="0" dirty="0">
              <a:effectLst/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de-CH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54146C16-1BF0-D4D3-3E06-B9FA311AC98C}"/>
              </a:ext>
            </a:extLst>
          </p:cNvPr>
          <p:cNvSpPr/>
          <p:nvPr/>
        </p:nvSpPr>
        <p:spPr>
          <a:xfrm rot="5400000">
            <a:off x="9811074" y="1792612"/>
            <a:ext cx="426027" cy="69987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C732C-633D-AD1A-FB7A-B8214BA5B8CC}"/>
              </a:ext>
            </a:extLst>
          </p:cNvPr>
          <p:cNvSpPr txBox="1"/>
          <p:nvPr/>
        </p:nvSpPr>
        <p:spPr>
          <a:xfrm>
            <a:off x="976746" y="1518460"/>
            <a:ext cx="2373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noProof="0" dirty="0"/>
              <a:t>Erklärende Variablen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AD3D4C-345E-E60E-0CF9-250E74ED4D32}"/>
              </a:ext>
            </a:extLst>
          </p:cNvPr>
          <p:cNvSpPr txBox="1"/>
          <p:nvPr/>
        </p:nvSpPr>
        <p:spPr>
          <a:xfrm>
            <a:off x="9400309" y="1567679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noProof="0" dirty="0"/>
              <a:t>Zielvariable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833D0D5-DF9E-7A97-61C2-62925992D7A8}"/>
              </a:ext>
            </a:extLst>
          </p:cNvPr>
          <p:cNvSpPr/>
          <p:nvPr/>
        </p:nvSpPr>
        <p:spPr>
          <a:xfrm rot="5400000">
            <a:off x="1935234" y="1504445"/>
            <a:ext cx="426027" cy="161939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8ECDD0C4-AEE4-37E0-31DD-2FED536147B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6582" y="4727864"/>
            <a:ext cx="11333017" cy="14443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noProof="0" dirty="0"/>
              <a:t>Regulär Season: 52 Runden, je 7 Spiele </a:t>
            </a:r>
            <a:r>
              <a:rPr lang="de-CH" noProof="0" dirty="0">
                <a:sym typeface="Wingdings" panose="05000000000000000000" pitchFamily="2" charset="2"/>
              </a:rPr>
              <a:t> 364 Spiele</a:t>
            </a:r>
            <a:endParaRPr lang="de-CH" noProof="0" dirty="0"/>
          </a:p>
          <a:p>
            <a:pPr marL="0" indent="0">
              <a:buNone/>
            </a:pPr>
            <a:r>
              <a:rPr lang="de-CH" noProof="0" dirty="0"/>
              <a:t>Trainingsdaten: Erste 10 Runden</a:t>
            </a:r>
            <a:br>
              <a:rPr lang="de-CH" noProof="0" dirty="0"/>
            </a:br>
            <a:r>
              <a:rPr lang="de-CH" noProof="0" dirty="0"/>
              <a:t>Testdaten: Runde 11 bis 20 (besser als 43 – 52, da vor den Playoffs, oft anders gespielt wird)</a:t>
            </a:r>
          </a:p>
        </p:txBody>
      </p:sp>
    </p:spTree>
    <p:extLst>
      <p:ext uri="{BB962C8B-B14F-4D97-AF65-F5344CB8AC3E}">
        <p14:creationId xmlns:p14="http://schemas.microsoft.com/office/powerpoint/2010/main" val="211259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6792-51B6-7904-65F2-AFE5F82A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Lineare Regression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208BF-8360-3BFF-0210-5A84B6AC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3</a:t>
            </a:fld>
            <a:endParaRPr lang="de-CH" noProof="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885095B-DF80-B1B5-64A1-5EE1BDC8D513}"/>
              </a:ext>
            </a:extLst>
          </p:cNvPr>
          <p:cNvSpPr txBox="1">
            <a:spLocks/>
          </p:cNvSpPr>
          <p:nvPr/>
        </p:nvSpPr>
        <p:spPr>
          <a:xfrm>
            <a:off x="6504305" y="1825625"/>
            <a:ext cx="4544695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statsmodels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sm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model_summary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sm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OLS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de-CH" dirty="0"/>
          </a:p>
          <a:p>
            <a:pPr>
              <a:lnSpc>
                <a:spcPts val="1425"/>
              </a:lnSpc>
              <a:buNone/>
            </a:pPr>
            <a:r>
              <a:rPr lang="de-CH" dirty="0"/>
              <a:t>Mit Auf- und Abrunden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8DF356-EFE5-BD3B-3E9E-834489A69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2" y="1563112"/>
            <a:ext cx="5506218" cy="41058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624562-7DF0-7B4F-E2A8-5913F22CF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081" y="2609257"/>
            <a:ext cx="5306165" cy="4248743"/>
          </a:xfrm>
          <a:prstGeom prst="rect">
            <a:avLst/>
          </a:prstGeom>
        </p:spPr>
      </p:pic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DB3EC84-6050-FC82-F346-DD6B6AF91284}"/>
              </a:ext>
            </a:extLst>
          </p:cNvPr>
          <p:cNvSpPr txBox="1">
            <a:spLocks/>
          </p:cNvSpPr>
          <p:nvPr/>
        </p:nvSpPr>
        <p:spPr>
          <a:xfrm>
            <a:off x="1046081" y="5668961"/>
            <a:ext cx="4544695" cy="882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de-CH" dirty="0"/>
              <a:t>Training: Erste 10 Runden, Test Runde 11-20</a:t>
            </a:r>
          </a:p>
          <a:p>
            <a:pPr>
              <a:lnSpc>
                <a:spcPts val="1425"/>
              </a:lnSpc>
              <a:buFont typeface="Wingdings" panose="05000000000000000000" pitchFamily="2" charset="2"/>
              <a:buChar char="à"/>
            </a:pPr>
            <a:r>
              <a:rPr lang="de-CH" dirty="0" err="1"/>
              <a:t>Accuracy</a:t>
            </a:r>
            <a:r>
              <a:rPr lang="de-CH" dirty="0"/>
              <a:t>: 49%</a:t>
            </a:r>
          </a:p>
          <a:p>
            <a:pPr marL="0" indent="0">
              <a:lnSpc>
                <a:spcPts val="1425"/>
              </a:lnSpc>
              <a:buNone/>
            </a:pPr>
            <a:r>
              <a:rPr lang="de-CH" dirty="0"/>
              <a:t>Training: Erste 10 Runden, Test Runde 43-52</a:t>
            </a:r>
          </a:p>
          <a:p>
            <a:pPr marL="0" indent="0">
              <a:lnSpc>
                <a:spcPts val="1425"/>
              </a:lnSpc>
              <a:buNone/>
            </a:pP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 err="1"/>
              <a:t>Accuracy</a:t>
            </a:r>
            <a:r>
              <a:rPr lang="de-CH" dirty="0"/>
              <a:t>: 42%</a:t>
            </a:r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9424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DAB4D-A207-7371-1089-EEB921B9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E2B0-0EE1-4A13-A6F7-760DFD91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Voraussage nach Rangliste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EEBC2-376D-D9D1-ABF1-40ECDCC5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4</a:t>
            </a:fld>
            <a:endParaRPr lang="de-CH" noProof="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06DA109-D012-AF72-3096-A289E5E9CCF5}"/>
              </a:ext>
            </a:extLst>
          </p:cNvPr>
          <p:cNvSpPr txBox="1">
            <a:spLocks/>
          </p:cNvSpPr>
          <p:nvPr/>
        </p:nvSpPr>
        <p:spPr>
          <a:xfrm>
            <a:off x="6504305" y="1825625"/>
            <a:ext cx="4544695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de-CH" dirty="0">
                <a:sym typeface="Wingdings" panose="05000000000000000000" pitchFamily="2" charset="2"/>
              </a:rPr>
              <a:t>Mehr Punkte  3</a:t>
            </a:r>
          </a:p>
          <a:p>
            <a:pPr>
              <a:lnSpc>
                <a:spcPts val="1425"/>
              </a:lnSpc>
              <a:buNone/>
            </a:pPr>
            <a:r>
              <a:rPr lang="de-CH" dirty="0">
                <a:sym typeface="Wingdings" panose="05000000000000000000" pitchFamily="2" charset="2"/>
              </a:rPr>
              <a:t>Gleich viel Punkte  2 für Heimteam </a:t>
            </a: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4CDCF54-032B-1E6D-BBE9-1B5862B7DB3F}"/>
              </a:ext>
            </a:extLst>
          </p:cNvPr>
          <p:cNvSpPr txBox="1">
            <a:spLocks/>
          </p:cNvSpPr>
          <p:nvPr/>
        </p:nvSpPr>
        <p:spPr>
          <a:xfrm>
            <a:off x="1046081" y="1579418"/>
            <a:ext cx="4544695" cy="497161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de-CH" noProof="0" dirty="0"/>
              <a:t>Rangliste nach 10 Runden: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0                 Lausanne HC      27      11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                    HC Davos      26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2           Fribourg-Gottéron      21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3          Genève-</a:t>
            </a:r>
            <a:r>
              <a:rPr lang="de-CH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Servette</a:t>
            </a: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HC      20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4   SC Rapperswil-Jona Lakers      20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5                   ZSC Lions      17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6                      EV Zug      17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7                  EHC Kloten      12      11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8                  SCL Tigers      11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9             EHC Biel-Bienne      11       9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10                  HC Lugano       8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11                    SC Bern       8       9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12            HC Ambri-Piotta       7      10</a:t>
            </a:r>
          </a:p>
          <a:p>
            <a:pPr>
              <a:lnSpc>
                <a:spcPts val="1425"/>
              </a:lnSpc>
              <a:buNone/>
            </a:pPr>
            <a:r>
              <a:rPr lang="de-CH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13                   HC Ajoie       5      10</a:t>
            </a:r>
          </a:p>
          <a:p>
            <a:pPr>
              <a:lnSpc>
                <a:spcPts val="1425"/>
              </a:lnSpc>
              <a:buNone/>
            </a:pPr>
            <a:endParaRPr lang="de-CH" noProof="0" dirty="0"/>
          </a:p>
          <a:p>
            <a:pPr>
              <a:lnSpc>
                <a:spcPts val="1425"/>
              </a:lnSpc>
              <a:buNone/>
            </a:pPr>
            <a:r>
              <a:rPr lang="de-CH" noProof="0" dirty="0"/>
              <a:t>Training: Erste 10 Runden, Test Runde 11-20</a:t>
            </a:r>
          </a:p>
          <a:p>
            <a:pPr>
              <a:lnSpc>
                <a:spcPts val="1425"/>
              </a:lnSpc>
              <a:buFont typeface="Wingdings" panose="05000000000000000000" pitchFamily="2" charset="2"/>
              <a:buChar char="à"/>
            </a:pPr>
            <a:r>
              <a:rPr lang="de-CH" noProof="0" dirty="0" err="1"/>
              <a:t>Accuracy</a:t>
            </a:r>
            <a:r>
              <a:rPr lang="de-CH" noProof="0" dirty="0"/>
              <a:t>: 47%</a:t>
            </a:r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7C05C-AE3B-1D2C-4C9B-00D8BF1B1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47" y="2254662"/>
            <a:ext cx="5334744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03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3F98B-4540-5D71-C521-29088133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9B97-F789-B8ED-4A59-99E1F8EBC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KNN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59567-D430-D0FC-923C-A93E96A8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5</a:t>
            </a:fld>
            <a:endParaRPr lang="de-CH" noProof="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DABB521-C617-45CA-4971-CDE3D84B6F1C}"/>
              </a:ext>
            </a:extLst>
          </p:cNvPr>
          <p:cNvSpPr txBox="1">
            <a:spLocks/>
          </p:cNvSpPr>
          <p:nvPr/>
        </p:nvSpPr>
        <p:spPr>
          <a:xfrm>
            <a:off x="6504305" y="1825625"/>
            <a:ext cx="4544695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neighbors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KNeighborsClassifier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model_knn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KNeighborsClassifier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n_neighbors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model_knn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de-CH" dirty="0">
              <a:sym typeface="Wingdings" panose="05000000000000000000" pitchFamily="2" charset="2"/>
            </a:endParaRPr>
          </a:p>
          <a:p>
            <a:pPr>
              <a:lnSpc>
                <a:spcPts val="1425"/>
              </a:lnSpc>
              <a:buNone/>
            </a:pPr>
            <a:r>
              <a:rPr lang="de-CH" dirty="0">
                <a:sym typeface="Wingdings" panose="05000000000000000000" pitchFamily="2" charset="2"/>
              </a:rPr>
              <a:t> </a:t>
            </a: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3E6A209-11B4-20C5-6DB5-7BBB27B27126}"/>
              </a:ext>
            </a:extLst>
          </p:cNvPr>
          <p:cNvSpPr txBox="1">
            <a:spLocks/>
          </p:cNvSpPr>
          <p:nvPr/>
        </p:nvSpPr>
        <p:spPr>
          <a:xfrm>
            <a:off x="1046081" y="5668961"/>
            <a:ext cx="4544695" cy="882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de-CH" dirty="0"/>
              <a:t>Training: Erste 10 Runden, Test Runde 11-20</a:t>
            </a:r>
          </a:p>
          <a:p>
            <a:pPr>
              <a:lnSpc>
                <a:spcPts val="1425"/>
              </a:lnSpc>
              <a:buFont typeface="Wingdings" panose="05000000000000000000" pitchFamily="2" charset="2"/>
              <a:buChar char="à"/>
            </a:pPr>
            <a:r>
              <a:rPr lang="de-CH" dirty="0" err="1"/>
              <a:t>Accuracy</a:t>
            </a:r>
            <a:r>
              <a:rPr lang="de-CH" dirty="0"/>
              <a:t>: 43%</a:t>
            </a:r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3356A-F128-7A27-E863-F64BE4CC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46" y="1180966"/>
            <a:ext cx="551574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1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0BF7-92C6-9C66-A199-E22AEC4D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7373-C2CB-23C1-A8EF-8E208062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KNN </a:t>
            </a:r>
            <a:r>
              <a:rPr lang="de-CH" noProof="0" dirty="0" err="1"/>
              <a:t>Overfitting</a:t>
            </a:r>
            <a:endParaRPr lang="de-CH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7F476-6DE5-2F02-250D-44562380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6</a:t>
            </a:fld>
            <a:endParaRPr lang="de-CH" noProof="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18E87F7-35E7-497A-A7E5-9314610AAC5E}"/>
              </a:ext>
            </a:extLst>
          </p:cNvPr>
          <p:cNvSpPr txBox="1">
            <a:spLocks/>
          </p:cNvSpPr>
          <p:nvPr/>
        </p:nvSpPr>
        <p:spPr>
          <a:xfrm>
            <a:off x="6504305" y="1825625"/>
            <a:ext cx="4544695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neighbors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KNeighborsClassifier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model_knn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KNeighborsClassifier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n_neighbors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model_knn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de-CH">
              <a:sym typeface="Wingdings" panose="05000000000000000000" pitchFamily="2" charset="2"/>
            </a:endParaRPr>
          </a:p>
          <a:p>
            <a:pPr>
              <a:lnSpc>
                <a:spcPts val="1425"/>
              </a:lnSpc>
              <a:buNone/>
            </a:pPr>
            <a:r>
              <a:rPr lang="de-CH">
                <a:sym typeface="Wingdings" panose="05000000000000000000" pitchFamily="2" charset="2"/>
              </a:rPr>
              <a:t> </a:t>
            </a:r>
            <a:endParaRPr lang="de-CH"/>
          </a:p>
          <a:p>
            <a:pPr>
              <a:lnSpc>
                <a:spcPts val="1425"/>
              </a:lnSpc>
              <a:buNone/>
            </a:pP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1A4B56B-4D3D-6355-D523-C5667ECD1FDA}"/>
              </a:ext>
            </a:extLst>
          </p:cNvPr>
          <p:cNvSpPr txBox="1">
            <a:spLocks/>
          </p:cNvSpPr>
          <p:nvPr/>
        </p:nvSpPr>
        <p:spPr>
          <a:xfrm>
            <a:off x="1046081" y="5668961"/>
            <a:ext cx="4544695" cy="882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de-CH" dirty="0"/>
              <a:t>Training: 1- 52, Test Runde 43-52</a:t>
            </a:r>
          </a:p>
          <a:p>
            <a:pPr>
              <a:lnSpc>
                <a:spcPts val="1425"/>
              </a:lnSpc>
              <a:buFont typeface="Wingdings" panose="05000000000000000000" pitchFamily="2" charset="2"/>
              <a:buChar char="à"/>
            </a:pPr>
            <a:r>
              <a:rPr lang="de-CH" dirty="0" err="1"/>
              <a:t>Accuracy</a:t>
            </a:r>
            <a:r>
              <a:rPr lang="de-CH" dirty="0"/>
              <a:t>: 66 %</a:t>
            </a:r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4C44E2-0237-0398-8B69-461F81580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84" y="1347497"/>
            <a:ext cx="5553850" cy="41630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922C91-E8BB-09FF-E3AB-9915280B3426}"/>
              </a:ext>
            </a:extLst>
          </p:cNvPr>
          <p:cNvSpPr txBox="1"/>
          <p:nvPr/>
        </p:nvSpPr>
        <p:spPr>
          <a:xfrm>
            <a:off x="6415318" y="3460173"/>
            <a:ext cx="4722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 err="1"/>
              <a:t>Deshalb</a:t>
            </a:r>
            <a:r>
              <a:rPr lang="en-US" b="1" dirty="0"/>
              <a:t> </a:t>
            </a:r>
            <a:r>
              <a:rPr lang="en-US" b="1" dirty="0" err="1"/>
              <a:t>ist</a:t>
            </a:r>
            <a:r>
              <a:rPr lang="en-US" b="1" dirty="0"/>
              <a:t> so </a:t>
            </a:r>
            <a:r>
              <a:rPr lang="en-US" b="1" dirty="0" err="1"/>
              <a:t>wichtig</a:t>
            </a:r>
            <a:r>
              <a:rPr lang="en-US" b="1" dirty="0"/>
              <a:t> </a:t>
            </a:r>
            <a:r>
              <a:rPr lang="en-US" b="1" dirty="0" err="1"/>
              <a:t>Trainingsdaten</a:t>
            </a:r>
            <a:r>
              <a:rPr lang="en-US" b="1" dirty="0"/>
              <a:t> von </a:t>
            </a:r>
            <a:r>
              <a:rPr lang="en-US" b="1" dirty="0" err="1"/>
              <a:t>Tesdaten</a:t>
            </a:r>
            <a:r>
              <a:rPr lang="en-US" b="1" dirty="0"/>
              <a:t> </a:t>
            </a:r>
            <a:r>
              <a:rPr lang="en-US" b="1" dirty="0" err="1"/>
              <a:t>zu</a:t>
            </a:r>
            <a:r>
              <a:rPr lang="en-US" b="1" dirty="0"/>
              <a:t> </a:t>
            </a:r>
            <a:r>
              <a:rPr lang="en-US" b="1" dirty="0" err="1"/>
              <a:t>trennen</a:t>
            </a:r>
            <a:r>
              <a:rPr lang="en-US" b="1" dirty="0"/>
              <a:t>!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670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B183F-8CD7-4141-E6C2-17E1A89A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315F-75DB-BFAC-622A-69B730F9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ELO aus dem Schach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83E5A-5EBF-A5FD-9C43-E0173DF8C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7</a:t>
            </a:fld>
            <a:endParaRPr lang="de-CH" noProof="0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62C2EB9-0135-D3E5-E2F8-BECC3499A237}"/>
              </a:ext>
            </a:extLst>
          </p:cNvPr>
          <p:cNvSpPr txBox="1">
            <a:spLocks/>
          </p:cNvSpPr>
          <p:nvPr/>
        </p:nvSpPr>
        <p:spPr>
          <a:xfrm>
            <a:off x="1046081" y="5668961"/>
            <a:ext cx="4544695" cy="882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de-CH" dirty="0"/>
              <a:t>Training: Erste 10 Runden, Test Runde 11-20</a:t>
            </a:r>
          </a:p>
          <a:p>
            <a:pPr>
              <a:lnSpc>
                <a:spcPts val="1425"/>
              </a:lnSpc>
              <a:buFont typeface="Wingdings" panose="05000000000000000000" pitchFamily="2" charset="2"/>
              <a:buChar char="à"/>
            </a:pPr>
            <a:r>
              <a:rPr lang="de-CH" dirty="0" err="1"/>
              <a:t>Accuracy</a:t>
            </a:r>
            <a:r>
              <a:rPr lang="de-CH" dirty="0"/>
              <a:t>: 44%</a:t>
            </a:r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5DF8B-4522-42F5-3666-9EFF58CBE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948" y="259046"/>
            <a:ext cx="3387565" cy="266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33EC0E-35D7-06F9-3124-D529ABBD7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270" y="3826303"/>
            <a:ext cx="3652920" cy="28201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313449-352B-774F-26F3-41310ABD3C04}"/>
              </a:ext>
            </a:extLst>
          </p:cNvPr>
          <p:cNvCxnSpPr/>
          <p:nvPr/>
        </p:nvCxnSpPr>
        <p:spPr>
          <a:xfrm>
            <a:off x="10183091" y="2919846"/>
            <a:ext cx="0" cy="72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F9B201-B9A1-9615-5ED8-F3EB7ADB9C6C}"/>
              </a:ext>
            </a:extLst>
          </p:cNvPr>
          <p:cNvCxnSpPr/>
          <p:nvPr/>
        </p:nvCxnSpPr>
        <p:spPr>
          <a:xfrm>
            <a:off x="7987145" y="2919846"/>
            <a:ext cx="0" cy="72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A2E0C17-EC30-B95A-EC82-8CD6A155C211}"/>
              </a:ext>
            </a:extLst>
          </p:cNvPr>
          <p:cNvSpPr txBox="1"/>
          <p:nvPr/>
        </p:nvSpPr>
        <p:spPr>
          <a:xfrm>
            <a:off x="8210520" y="3010915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Gewinnchance</a:t>
            </a:r>
            <a:endParaRPr lang="en-C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B4C0A8-60E0-76AD-7C23-7AA3DE766B90}"/>
              </a:ext>
            </a:extLst>
          </p:cNvPr>
          <p:cNvSpPr txBox="1"/>
          <p:nvPr/>
        </p:nvSpPr>
        <p:spPr>
          <a:xfrm>
            <a:off x="6419914" y="3003742"/>
            <a:ext cx="1475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Viele </a:t>
            </a:r>
            <a:r>
              <a:rPr lang="en-US" dirty="0" err="1"/>
              <a:t>Punkte</a:t>
            </a:r>
            <a:endParaRPr lang="en-C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985725-541D-FB93-7761-84AEA330FC1B}"/>
              </a:ext>
            </a:extLst>
          </p:cNvPr>
          <p:cNvSpPr txBox="1"/>
          <p:nvPr/>
        </p:nvSpPr>
        <p:spPr>
          <a:xfrm>
            <a:off x="10311041" y="3059668"/>
            <a:ext cx="16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Wenig </a:t>
            </a:r>
            <a:r>
              <a:rPr lang="en-US" dirty="0" err="1"/>
              <a:t>Punkte</a:t>
            </a:r>
            <a:endParaRPr lang="en-CH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6D70B6B-4239-2FD7-53C2-2A5B38BFB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16" y="1182971"/>
            <a:ext cx="5544324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4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3B19-23FD-CD61-C019-B8E419B3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7127-5966-F4ED-DFC2-30EFEDE8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ELO Verlauf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579D2-D650-BFAA-E734-79A69C20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8</a:t>
            </a:fld>
            <a:endParaRPr lang="de-CH" noProof="0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9D50E23-8C81-E76C-CCC5-8A70FBF199C1}"/>
              </a:ext>
            </a:extLst>
          </p:cNvPr>
          <p:cNvSpPr txBox="1">
            <a:spLocks/>
          </p:cNvSpPr>
          <p:nvPr/>
        </p:nvSpPr>
        <p:spPr>
          <a:xfrm>
            <a:off x="942172" y="4813834"/>
            <a:ext cx="10217664" cy="882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de-CH" dirty="0"/>
              <a:t>HCD hatte in der Mitte der Saison einen Durchhänger</a:t>
            </a:r>
          </a:p>
          <a:p>
            <a:pPr>
              <a:lnSpc>
                <a:spcPts val="1425"/>
              </a:lnSpc>
              <a:buNone/>
            </a:pPr>
            <a:r>
              <a:rPr lang="de-CH" dirty="0"/>
              <a:t>HC Ajoie dafür ein Zwischenhoch</a:t>
            </a:r>
          </a:p>
          <a:p>
            <a:pPr>
              <a:lnSpc>
                <a:spcPts val="1425"/>
              </a:lnSpc>
              <a:buNone/>
            </a:pPr>
            <a:endParaRPr lang="de-CH" dirty="0"/>
          </a:p>
          <a:p>
            <a:pPr>
              <a:lnSpc>
                <a:spcPts val="1425"/>
              </a:lnSpc>
              <a:buNone/>
            </a:pPr>
            <a:r>
              <a:rPr lang="de-CH" dirty="0"/>
              <a:t>HCD dazu in Bestform für die Playoffs, weshalb HCD Meister wird</a:t>
            </a:r>
          </a:p>
          <a:p>
            <a:pPr>
              <a:lnSpc>
                <a:spcPts val="1425"/>
              </a:lnSpc>
              <a:buNone/>
            </a:pPr>
            <a:endParaRPr lang="de-CH" dirty="0"/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 marL="0" indent="0">
              <a:lnSpc>
                <a:spcPts val="1425"/>
              </a:lnSpc>
              <a:buNone/>
            </a:pPr>
            <a:endParaRPr lang="de-CH" dirty="0"/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2FDD19-657E-4C3F-9AF1-4B4EE3722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984" y="1544468"/>
            <a:ext cx="5683923" cy="2917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1708BA-CF17-8962-5DBC-210A3F407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33" y="1544468"/>
            <a:ext cx="5380904" cy="285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5D38B-9C0D-1C4A-4184-57F09B4C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672AE-CCF9-FBF7-30ED-65F56E07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9</a:t>
            </a:fld>
            <a:endParaRPr lang="de-CH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7772F-52DA-104D-DE29-EFDC97BC6BED}"/>
              </a:ext>
            </a:extLst>
          </p:cNvPr>
          <p:cNvSpPr txBox="1"/>
          <p:nvPr/>
        </p:nvSpPr>
        <p:spPr>
          <a:xfrm>
            <a:off x="831274" y="508549"/>
            <a:ext cx="9449666" cy="78800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de-CH" sz="4800" noProof="0" dirty="0">
                <a:solidFill>
                  <a:srgbClr val="D27B07"/>
                </a:solidFill>
                <a:latin typeface="Mongolian Baiti" panose="03000500000000000000" pitchFamily="66" charset="0"/>
              </a:rPr>
              <a:t>Mit Goalie-Statistik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8E0FDD3-9B55-7BD6-9769-9569988C81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9125" y="2355561"/>
            <a:ext cx="10546772" cy="3099666"/>
          </a:xfrm>
        </p:spPr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r>
              <a:rPr lang="de-CH" dirty="0">
                <a:latin typeface="Consolas" panose="020B0609020204030204" pitchFamily="49" charset="0"/>
              </a:rPr>
              <a:t>     </a:t>
            </a:r>
            <a:r>
              <a:rPr lang="de-CH" dirty="0" err="1">
                <a:latin typeface="Consolas" panose="020B0609020204030204" pitchFamily="49" charset="0"/>
              </a:rPr>
              <a:t>Home_Id</a:t>
            </a:r>
            <a:r>
              <a:rPr lang="de-CH" dirty="0">
                <a:latin typeface="Consolas" panose="020B0609020204030204" pitchFamily="49" charset="0"/>
              </a:rPr>
              <a:t>  </a:t>
            </a:r>
            <a:r>
              <a:rPr lang="de-CH" dirty="0" err="1">
                <a:latin typeface="Consolas" panose="020B0609020204030204" pitchFamily="49" charset="0"/>
              </a:rPr>
              <a:t>Away_Id</a:t>
            </a:r>
            <a:r>
              <a:rPr lang="de-CH" dirty="0">
                <a:latin typeface="Consolas" panose="020B0609020204030204" pitchFamily="49" charset="0"/>
              </a:rPr>
              <a:t>                       Home         </a:t>
            </a:r>
            <a:r>
              <a:rPr lang="de-CH" dirty="0" err="1">
                <a:latin typeface="Consolas" panose="020B0609020204030204" pitchFamily="49" charset="0"/>
              </a:rPr>
              <a:t>Away</a:t>
            </a:r>
            <a:r>
              <a:rPr lang="de-CH" dirty="0">
                <a:latin typeface="Consolas" panose="020B0609020204030204" pitchFamily="49" charset="0"/>
              </a:rPr>
              <a:t> Resultat OT/SO  Points  </a:t>
            </a:r>
            <a:r>
              <a:rPr lang="de-CH" dirty="0" err="1">
                <a:latin typeface="Consolas" panose="020B0609020204030204" pitchFamily="49" charset="0"/>
              </a:rPr>
              <a:t>SVS_Home</a:t>
            </a:r>
            <a:r>
              <a:rPr lang="de-CH" dirty="0">
                <a:latin typeface="Consolas" panose="020B0609020204030204" pitchFamily="49" charset="0"/>
              </a:rPr>
              <a:t>  </a:t>
            </a:r>
            <a:r>
              <a:rPr lang="de-CH" dirty="0" err="1">
                <a:latin typeface="Consolas" panose="020B0609020204030204" pitchFamily="49" charset="0"/>
              </a:rPr>
              <a:t>SVS_Away</a:t>
            </a:r>
            <a:endParaRPr lang="de-CH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dirty="0">
                <a:latin typeface="Consolas" panose="020B0609020204030204" pitchFamily="49" charset="0"/>
              </a:rPr>
              <a:t>0        0       10            HC Ambri-Piotta   EHC Kloten    02:01   </a:t>
            </a:r>
            <a:r>
              <a:rPr lang="de-CH" dirty="0" err="1">
                <a:latin typeface="Consolas" panose="020B0609020204030204" pitchFamily="49" charset="0"/>
              </a:rPr>
              <a:t>NaN</a:t>
            </a:r>
            <a:r>
              <a:rPr lang="de-CH" dirty="0">
                <a:latin typeface="Consolas" panose="020B0609020204030204" pitchFamily="49" charset="0"/>
              </a:rPr>
              <a:t>       3     94.12     93.55</a:t>
            </a:r>
          </a:p>
          <a:p>
            <a:pPr>
              <a:lnSpc>
                <a:spcPts val="1425"/>
              </a:lnSpc>
              <a:buNone/>
            </a:pPr>
            <a:r>
              <a:rPr lang="de-CH" dirty="0">
                <a:latin typeface="Consolas" panose="020B0609020204030204" pitchFamily="49" charset="0"/>
              </a:rPr>
              <a:t>1        1       12                   HC Davos  Lausanne HC    04:01   </a:t>
            </a:r>
            <a:r>
              <a:rPr lang="de-CH" dirty="0" err="1">
                <a:latin typeface="Consolas" panose="020B0609020204030204" pitchFamily="49" charset="0"/>
              </a:rPr>
              <a:t>NaN</a:t>
            </a:r>
            <a:r>
              <a:rPr lang="de-CH" dirty="0">
                <a:latin typeface="Consolas" panose="020B0609020204030204" pitchFamily="49" charset="0"/>
              </a:rPr>
              <a:t>       3     95.65     85.71</a:t>
            </a:r>
          </a:p>
          <a:p>
            <a:pPr>
              <a:lnSpc>
                <a:spcPts val="1425"/>
              </a:lnSpc>
              <a:buNone/>
            </a:pPr>
            <a:r>
              <a:rPr lang="de-CH" dirty="0">
                <a:latin typeface="Consolas" panose="020B0609020204030204" pitchFamily="49" charset="0"/>
              </a:rPr>
              <a:t>2        2       11          Fribourg-Gottéron    HC Lugano    03:02    OT       2     92.00     90.00</a:t>
            </a:r>
          </a:p>
          <a:p>
            <a:pPr>
              <a:lnSpc>
                <a:spcPts val="1425"/>
              </a:lnSpc>
              <a:buNone/>
            </a:pPr>
            <a:r>
              <a:rPr lang="de-CH" dirty="0">
                <a:latin typeface="Consolas" panose="020B0609020204030204" pitchFamily="49" charset="0"/>
              </a:rPr>
              <a:t>3        3        8         Genève-</a:t>
            </a:r>
            <a:r>
              <a:rPr lang="de-CH" dirty="0" err="1">
                <a:latin typeface="Consolas" panose="020B0609020204030204" pitchFamily="49" charset="0"/>
              </a:rPr>
              <a:t>Servette</a:t>
            </a:r>
            <a:r>
              <a:rPr lang="de-CH" dirty="0">
                <a:latin typeface="Consolas" panose="020B0609020204030204" pitchFamily="49" charset="0"/>
              </a:rPr>
              <a:t> HC     </a:t>
            </a:r>
            <a:r>
              <a:rPr lang="de-CH" dirty="0" err="1">
                <a:latin typeface="Consolas" panose="020B0609020204030204" pitchFamily="49" charset="0"/>
              </a:rPr>
              <a:t>HC</a:t>
            </a:r>
            <a:r>
              <a:rPr lang="de-CH" dirty="0">
                <a:latin typeface="Consolas" panose="020B0609020204030204" pitchFamily="49" charset="0"/>
              </a:rPr>
              <a:t> Ajoie    05:03   </a:t>
            </a:r>
            <a:r>
              <a:rPr lang="de-CH" dirty="0" err="1">
                <a:latin typeface="Consolas" panose="020B0609020204030204" pitchFamily="49" charset="0"/>
              </a:rPr>
              <a:t>NaN</a:t>
            </a:r>
            <a:r>
              <a:rPr lang="de-CH" dirty="0">
                <a:latin typeface="Consolas" panose="020B0609020204030204" pitchFamily="49" charset="0"/>
              </a:rPr>
              <a:t>       3     88.00     90.24</a:t>
            </a:r>
          </a:p>
          <a:p>
            <a:pPr>
              <a:lnSpc>
                <a:spcPts val="1425"/>
              </a:lnSpc>
              <a:buNone/>
            </a:pPr>
            <a:r>
              <a:rPr lang="de-CH" dirty="0">
                <a:latin typeface="Consolas" panose="020B0609020204030204" pitchFamily="49" charset="0"/>
              </a:rPr>
              <a:t>4        4       13  SC Rapperswil-Jona Lakers   SCL Tigers    05:01   </a:t>
            </a:r>
            <a:r>
              <a:rPr lang="de-CH" dirty="0" err="1">
                <a:latin typeface="Consolas" panose="020B0609020204030204" pitchFamily="49" charset="0"/>
              </a:rPr>
              <a:t>NaN</a:t>
            </a:r>
            <a:r>
              <a:rPr lang="de-CH" dirty="0">
                <a:latin typeface="Consolas" panose="020B0609020204030204" pitchFamily="49" charset="0"/>
              </a:rPr>
              <a:t>       3     95.83     89.13</a:t>
            </a:r>
            <a:br>
              <a:rPr lang="de-CH" b="0" noProof="0" dirty="0">
                <a:effectLst/>
                <a:latin typeface="Consolas" panose="020B0609020204030204" pitchFamily="49" charset="0"/>
              </a:rPr>
            </a:br>
            <a:endParaRPr lang="de-CH" b="0" noProof="0" dirty="0">
              <a:effectLst/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de-CH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2AE9B352-65D8-754F-8234-E410C0411AFA}"/>
              </a:ext>
            </a:extLst>
          </p:cNvPr>
          <p:cNvSpPr/>
          <p:nvPr/>
        </p:nvSpPr>
        <p:spPr>
          <a:xfrm rot="5400000">
            <a:off x="8449865" y="1841677"/>
            <a:ext cx="426027" cy="69987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830F7-425C-5056-28A8-18493733AE61}"/>
              </a:ext>
            </a:extLst>
          </p:cNvPr>
          <p:cNvSpPr txBox="1"/>
          <p:nvPr/>
        </p:nvSpPr>
        <p:spPr>
          <a:xfrm>
            <a:off x="941244" y="1582086"/>
            <a:ext cx="2373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Erklärende Variablen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8ADA48-183A-0AB2-478F-74599AA72166}"/>
              </a:ext>
            </a:extLst>
          </p:cNvPr>
          <p:cNvSpPr txBox="1"/>
          <p:nvPr/>
        </p:nvSpPr>
        <p:spPr>
          <a:xfrm>
            <a:off x="7963007" y="1591862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noProof="0" dirty="0"/>
              <a:t>Zielvariable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A8955F4B-076B-7384-42EC-3E89776FFE7E}"/>
              </a:ext>
            </a:extLst>
          </p:cNvPr>
          <p:cNvSpPr/>
          <p:nvPr/>
        </p:nvSpPr>
        <p:spPr>
          <a:xfrm rot="5400000">
            <a:off x="1750074" y="1379345"/>
            <a:ext cx="426027" cy="161939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ADCC13E2-7BDE-E643-2DBF-FB62ADE75CB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9125" y="5185064"/>
            <a:ext cx="6276108" cy="14443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noProof="0" dirty="0"/>
              <a:t>Und mit linearer Regression</a:t>
            </a:r>
          </a:p>
          <a:p>
            <a:pPr marL="0" indent="0">
              <a:buNone/>
            </a:pPr>
            <a:r>
              <a:rPr lang="de-CH" noProof="0" dirty="0"/>
              <a:t>SVS: </a:t>
            </a:r>
            <a:r>
              <a:rPr lang="de-DE" dirty="0"/>
              <a:t>Anzahl gehaltener Schüsse im </a:t>
            </a:r>
            <a:r>
              <a:rPr lang="de-DE" dirty="0" err="1"/>
              <a:t>Verhältniss</a:t>
            </a:r>
            <a:r>
              <a:rPr lang="de-DE" dirty="0"/>
              <a:t> zu Anzahl Schüsse aufs Tor.</a:t>
            </a:r>
          </a:p>
          <a:p>
            <a:pPr>
              <a:lnSpc>
                <a:spcPts val="1425"/>
              </a:lnSpc>
              <a:buNone/>
            </a:pPr>
            <a:r>
              <a:rPr lang="de-CH" dirty="0"/>
              <a:t>Training: Erste 10 Runden, Test Runde 11-20</a:t>
            </a:r>
          </a:p>
          <a:p>
            <a:pPr>
              <a:lnSpc>
                <a:spcPts val="1425"/>
              </a:lnSpc>
              <a:buFont typeface="Wingdings" panose="05000000000000000000" pitchFamily="2" charset="2"/>
              <a:buChar char="à"/>
            </a:pPr>
            <a:r>
              <a:rPr lang="de-CH" dirty="0" err="1"/>
              <a:t>Accuracy</a:t>
            </a:r>
            <a:r>
              <a:rPr lang="de-CH" dirty="0"/>
              <a:t>: 74%</a:t>
            </a:r>
          </a:p>
          <a:p>
            <a:pPr marL="0" indent="0">
              <a:buNone/>
            </a:pPr>
            <a:br>
              <a:rPr lang="de-DE" dirty="0"/>
            </a:br>
            <a:endParaRPr lang="de-CH" noProof="0" dirty="0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4576FF09-34BB-9587-193F-C1B2DD6BE30D}"/>
              </a:ext>
            </a:extLst>
          </p:cNvPr>
          <p:cNvSpPr/>
          <p:nvPr/>
        </p:nvSpPr>
        <p:spPr>
          <a:xfrm rot="5400000">
            <a:off x="9789174" y="1332851"/>
            <a:ext cx="426027" cy="161939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EEE8B-BA89-BEF6-3840-62EA4C273206}"/>
              </a:ext>
            </a:extLst>
          </p:cNvPr>
          <p:cNvSpPr txBox="1"/>
          <p:nvPr/>
        </p:nvSpPr>
        <p:spPr>
          <a:xfrm>
            <a:off x="9279610" y="1588550"/>
            <a:ext cx="2527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+Erklärende Variablen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24FE24-9D85-8D13-E81F-BC565DD4A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78" y="3793866"/>
            <a:ext cx="5468113" cy="13241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D1A0EC-F844-8EB8-2041-FD1EB353EEC1}"/>
              </a:ext>
            </a:extLst>
          </p:cNvPr>
          <p:cNvSpPr txBox="1"/>
          <p:nvPr/>
        </p:nvSpPr>
        <p:spPr>
          <a:xfrm>
            <a:off x="619125" y="3518213"/>
            <a:ext cx="1490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Fit</a:t>
            </a:r>
            <a:endParaRPr lang="en-CH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9A46E3-0AA7-4857-4496-FF0C8B03B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434" y="3652973"/>
            <a:ext cx="3774566" cy="2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50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73D2-4BDA-34EB-37B9-CD86EEBE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CF21E-11F7-75FB-9AC5-0041CA8A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10</a:t>
            </a:fld>
            <a:endParaRPr lang="de-CH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78C90-3B79-C693-C48C-F240DB6A8316}"/>
              </a:ext>
            </a:extLst>
          </p:cNvPr>
          <p:cNvSpPr txBox="1"/>
          <p:nvPr/>
        </p:nvSpPr>
        <p:spPr>
          <a:xfrm>
            <a:off x="831274" y="508549"/>
            <a:ext cx="9449666" cy="78800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de-CH" sz="4800" noProof="0" dirty="0" err="1">
                <a:solidFill>
                  <a:srgbClr val="D27B07"/>
                </a:solidFill>
                <a:latin typeface="Mongolian Baiti" panose="03000500000000000000" pitchFamily="66" charset="0"/>
              </a:rPr>
              <a:t>Entscheidungs</a:t>
            </a:r>
            <a:r>
              <a:rPr lang="de-CH" sz="4800" dirty="0">
                <a:solidFill>
                  <a:srgbClr val="D27B07"/>
                </a:solidFill>
                <a:latin typeface="Mongolian Baiti" panose="03000500000000000000" pitchFamily="66" charset="0"/>
              </a:rPr>
              <a:t>baum</a:t>
            </a:r>
            <a:endParaRPr lang="de-CH" sz="4800" noProof="0" dirty="0">
              <a:solidFill>
                <a:srgbClr val="D27B07"/>
              </a:solidFill>
              <a:latin typeface="Mongolian Baiti" panose="03000500000000000000" pitchFamily="66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B18CBCE-DE10-9065-C252-5CE83D41E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1" y="1338117"/>
            <a:ext cx="5582429" cy="36295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7AD0493-607E-608B-36CB-75846E74B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474" y="1911928"/>
            <a:ext cx="4735526" cy="222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27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2512E-2623-392A-5C72-2DBFD34B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7FEF1-DB81-BD93-1779-4BFB8DEB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Zusammenfassung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F3500-A99E-64EA-8011-59E75994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de-CH" noProof="0" smtClean="0"/>
              <a:t>11</a:t>
            </a:fld>
            <a:endParaRPr lang="de-CH" noProof="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0DE26B7-D4F1-FFCA-B03E-698C762CCD13}"/>
              </a:ext>
            </a:extLst>
          </p:cNvPr>
          <p:cNvSpPr txBox="1">
            <a:spLocks/>
          </p:cNvSpPr>
          <p:nvPr/>
        </p:nvSpPr>
        <p:spPr>
          <a:xfrm>
            <a:off x="1143001" y="1487695"/>
            <a:ext cx="10224654" cy="4117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Zusammenfassend ist Eishockey eine sehr volatile Sportart.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Aus den Resultaten alleine lässt sich kaum eine verlässliche Voraussage machen. </a:t>
            </a:r>
            <a:r>
              <a:rPr lang="de-DE" dirty="0" err="1"/>
              <a:t>Weiss</a:t>
            </a:r>
            <a:r>
              <a:rPr lang="de-DE" dirty="0"/>
              <a:t> man mehr über die Spieler, ist der Topscorer verletzt oder der Torhüter angeschlagen, lässt sich die Voraussage deutlich verbessern.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Aber wie </a:t>
            </a:r>
            <a:r>
              <a:rPr lang="de-DE" dirty="0" err="1"/>
              <a:t>weiss</a:t>
            </a:r>
            <a:r>
              <a:rPr lang="de-DE" dirty="0"/>
              <a:t> man das?</a:t>
            </a:r>
          </a:p>
          <a:p>
            <a:pPr marL="0" indent="0">
              <a:buNone/>
            </a:pPr>
            <a:endParaRPr lang="de-DE" noProof="0" dirty="0"/>
          </a:p>
          <a:p>
            <a:pPr marL="0" indent="0">
              <a:buNone/>
            </a:pPr>
            <a:r>
              <a:rPr lang="de-DE" dirty="0"/>
              <a:t>Ich tippe auf HC Davos, auch wenn mein Herz für Fribourg schlägt. Die Zahlen sind eindeutig:</a:t>
            </a:r>
          </a:p>
          <a:p>
            <a:pPr marL="0" indent="0">
              <a:buNone/>
            </a:pPr>
            <a:endParaRPr lang="de-DE" noProof="0" dirty="0"/>
          </a:p>
          <a:p>
            <a:pPr marL="0" indent="0">
              <a:buNone/>
            </a:pPr>
            <a:endParaRPr lang="de-CH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B1DBA-87B9-CCCD-E4A1-EABCC7626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99067"/>
            <a:ext cx="8145012" cy="1371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9E5039-EE6F-28A5-C93A-AF0DB5F5F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11" y="5210996"/>
            <a:ext cx="740195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46331"/>
      </p:ext>
    </p:extLst>
  </p:cSld>
  <p:clrMapOvr>
    <a:masterClrMapping/>
  </p:clrMapOvr>
</p:sld>
</file>

<file path=ppt/theme/theme1.xml><?xml version="1.0" encoding="utf-8"?>
<a:theme xmlns:a="http://schemas.openxmlformats.org/drawingml/2006/main" name="Quick study">
  <a:themeElements>
    <a:clrScheme name="Custom 2">
      <a:dk1>
        <a:srgbClr val="000000"/>
      </a:dk1>
      <a:lt1>
        <a:srgbClr val="FFFFFF"/>
      </a:lt1>
      <a:dk2>
        <a:srgbClr val="6B6969"/>
      </a:dk2>
      <a:lt2>
        <a:srgbClr val="FFFEFA"/>
      </a:lt2>
      <a:accent1>
        <a:srgbClr val="DDA151"/>
      </a:accent1>
      <a:accent2>
        <a:srgbClr val="FFD33F"/>
      </a:accent2>
      <a:accent3>
        <a:srgbClr val="E0D9BE"/>
      </a:accent3>
      <a:accent4>
        <a:srgbClr val="0FAE60"/>
      </a:accent4>
      <a:accent5>
        <a:srgbClr val="2B8AD4"/>
      </a:accent5>
      <a:accent6>
        <a:srgbClr val="E1612E"/>
      </a:accent6>
      <a:hlink>
        <a:srgbClr val="467886"/>
      </a:hlink>
      <a:folHlink>
        <a:srgbClr val="96607D"/>
      </a:folHlink>
    </a:clrScheme>
    <a:fontScheme name="Quick study">
      <a:majorFont>
        <a:latin typeface="Mongolian Bait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ick Study_win32_SD_V4" id="{62319037-9F07-4567-B4F2-AF117ABC5CCB}" vid="{0BC39864-9F70-40C9-9CA9-1A6913D50B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Widescreen</PresentationFormat>
  <Paragraphs>150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Avenir Next LT Pro</vt:lpstr>
      <vt:lpstr>Consolas</vt:lpstr>
      <vt:lpstr>Courier New</vt:lpstr>
      <vt:lpstr>Mongolian Baiti</vt:lpstr>
      <vt:lpstr>Wingdings</vt:lpstr>
      <vt:lpstr>Quick study</vt:lpstr>
      <vt:lpstr>Leistungsnachweis in Machine Learning </vt:lpstr>
      <vt:lpstr>PowerPoint Presentation</vt:lpstr>
      <vt:lpstr>Lineare Regression</vt:lpstr>
      <vt:lpstr>Voraussage nach Rangliste</vt:lpstr>
      <vt:lpstr>KNN</vt:lpstr>
      <vt:lpstr>KNN Overfitting</vt:lpstr>
      <vt:lpstr>ELO aus dem Schach</vt:lpstr>
      <vt:lpstr>ELO Verlauf</vt:lpstr>
      <vt:lpstr>PowerPoint Presentation</vt:lpstr>
      <vt:lpstr>PowerPoint Presentation</vt:lpstr>
      <vt:lpstr>Zusammenfassung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Louis-Pierre Gagnaux</dc:creator>
  <cp:lastModifiedBy>Louis-Pierre Gagnaux</cp:lastModifiedBy>
  <cp:revision>20</cp:revision>
  <dcterms:created xsi:type="dcterms:W3CDTF">2026-04-12T13:24:50Z</dcterms:created>
  <dcterms:modified xsi:type="dcterms:W3CDTF">2026-04-13T11:03:48Z</dcterms:modified>
</cp:coreProperties>
</file>